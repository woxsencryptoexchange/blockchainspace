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Merriweather"/>
      <p:regular r:id="rId23"/>
      <p:bold r:id="rId24"/>
      <p:italic r:id="rId25"/>
      <p:boldItalic r:id="rId26"/>
    </p:embeddedFont>
    <p:embeddedFont>
      <p:font typeface="DM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Merriweather-bold.fntdata"/><Relationship Id="rId23" Type="http://schemas.openxmlformats.org/officeDocument/2006/relationships/font" Target="fonts/Merriweath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boldItalic.fntdata"/><Relationship Id="rId25" Type="http://schemas.openxmlformats.org/officeDocument/2006/relationships/font" Target="fonts/Merriweather-italic.fntdata"/><Relationship Id="rId28" Type="http://schemas.openxmlformats.org/officeDocument/2006/relationships/font" Target="fonts/DMSans-bold.fntdata"/><Relationship Id="rId27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DM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df7b0393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df7b0393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df7b0393d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6df7b0393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df7b0393d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6df7b0393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df7b0393d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df7b0393d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df7b0393d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df7b0393d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df7b0393d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df7b0393d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6df7b0393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6df7b0393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6df7b0393d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6df7b0393d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df7b0393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6df7b0393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df8e07a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6df8e07a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6df7b0393d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6df7b0393d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df7b0393d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6df7b0393d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46300" y="1474000"/>
            <a:ext cx="5340300" cy="9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/>
              <a:t>Blockchainspace</a:t>
            </a:r>
            <a:endParaRPr sz="5000"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7165825" y="4184150"/>
            <a:ext cx="1978200" cy="9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By:</a:t>
            </a:r>
            <a:br>
              <a:rPr lang="en-GB">
                <a:solidFill>
                  <a:schemeClr val="lt1"/>
                </a:solidFill>
              </a:rPr>
            </a:br>
            <a:r>
              <a:rPr lang="en-GB">
                <a:solidFill>
                  <a:schemeClr val="lt1"/>
                </a:solidFill>
              </a:rPr>
              <a:t>      Shivam Yadav</a:t>
            </a:r>
            <a:br>
              <a:rPr lang="en-GB">
                <a:solidFill>
                  <a:schemeClr val="lt1"/>
                </a:solidFill>
              </a:rPr>
            </a:br>
            <a:r>
              <a:rPr lang="en-GB">
                <a:solidFill>
                  <a:schemeClr val="lt1"/>
                </a:solidFill>
              </a:rPr>
              <a:t>      Samir Jumade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6" name="Google Shape;66;p13" title="thumbnail_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92000" cy="66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9050" y="37700"/>
            <a:ext cx="1344950" cy="66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296650" y="787500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Agenda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4644600" y="787500"/>
            <a:ext cx="4499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183C40"/>
              </a:buClr>
              <a:buSzPts val="1600"/>
              <a:buFont typeface="DM Sans"/>
              <a:buChar char="●"/>
            </a:pPr>
            <a:r>
              <a:rPr b="1" lang="en-GB" sz="1600">
                <a:solidFill>
                  <a:srgbClr val="183C40"/>
                </a:solidFill>
                <a:latin typeface="DM Sans"/>
                <a:ea typeface="DM Sans"/>
                <a:cs typeface="DM Sans"/>
                <a:sym typeface="DM Sans"/>
              </a:rPr>
              <a:t>Introduction to blockchainspace.</a:t>
            </a:r>
            <a:endParaRPr b="1" sz="1600">
              <a:solidFill>
                <a:srgbClr val="183C4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183C40"/>
              </a:buClr>
              <a:buSzPts val="1600"/>
              <a:buFont typeface="DM Sans"/>
              <a:buChar char="●"/>
            </a:pPr>
            <a:r>
              <a:rPr b="1" lang="en-GB" sz="1600">
                <a:solidFill>
                  <a:srgbClr val="183C40"/>
                </a:solidFill>
                <a:latin typeface="DM Sans"/>
                <a:ea typeface="DM Sans"/>
                <a:cs typeface="DM Sans"/>
                <a:sym typeface="DM Sans"/>
              </a:rPr>
              <a:t>Project mission and vision.</a:t>
            </a:r>
            <a:endParaRPr b="1" sz="1600">
              <a:solidFill>
                <a:srgbClr val="183C4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183C40"/>
              </a:buClr>
              <a:buSzPts val="1600"/>
              <a:buFont typeface="DM Sans"/>
              <a:buChar char="●"/>
            </a:pPr>
            <a:r>
              <a:rPr b="1" lang="en-GB" sz="1600">
                <a:solidFill>
                  <a:srgbClr val="183C40"/>
                </a:solidFill>
                <a:latin typeface="DM Sans"/>
                <a:ea typeface="DM Sans"/>
                <a:cs typeface="DM Sans"/>
                <a:sym typeface="DM Sans"/>
              </a:rPr>
              <a:t>Functionality with screenshots.</a:t>
            </a:r>
            <a:endParaRPr b="1" sz="1600">
              <a:solidFill>
                <a:srgbClr val="183C4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183C40"/>
              </a:buClr>
              <a:buSzPts val="1600"/>
              <a:buFont typeface="DM Sans"/>
              <a:buChar char="●"/>
            </a:pPr>
            <a:r>
              <a:rPr b="1" lang="en-GB" sz="1600">
                <a:solidFill>
                  <a:srgbClr val="183C40"/>
                </a:solidFill>
                <a:latin typeface="DM Sans"/>
                <a:ea typeface="DM Sans"/>
                <a:cs typeface="DM Sans"/>
                <a:sym typeface="DM Sans"/>
              </a:rPr>
              <a:t>Data Sources.</a:t>
            </a:r>
            <a:endParaRPr b="1" sz="1600">
              <a:solidFill>
                <a:srgbClr val="183C4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74" name="Google Shape;74;p14" title="thumbnail_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92000" cy="66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9050" y="37700"/>
            <a:ext cx="1344950" cy="66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blockchainspace</a:t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222300" y="1459100"/>
            <a:ext cx="86481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52529"/>
              </a:buClr>
              <a:buSzPts val="1300"/>
              <a:buFont typeface="Roboto"/>
              <a:buChar char="●"/>
            </a:pPr>
            <a:r>
              <a:rPr lang="en-GB" sz="1300">
                <a:solidFill>
                  <a:srgbClr val="252529"/>
                </a:solidFill>
                <a:latin typeface="Roboto"/>
                <a:ea typeface="Roboto"/>
                <a:cs typeface="Roboto"/>
                <a:sym typeface="Roboto"/>
              </a:rPr>
              <a:t>BlockchainSpace serves as a comprehensive platform dedicated to the analysis, education, and exploration of blockchain technologies, aiming to demystify the complexities inherent in this space.</a:t>
            </a:r>
            <a:br>
              <a:rPr lang="en-GB" sz="1300">
                <a:solidFill>
                  <a:srgbClr val="252529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300">
              <a:solidFill>
                <a:srgbClr val="25252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2529"/>
              </a:buClr>
              <a:buSzPts val="1300"/>
              <a:buFont typeface="Roboto"/>
              <a:buChar char="●"/>
            </a:pPr>
            <a:r>
              <a:rPr lang="en-GB" sz="1300">
                <a:solidFill>
                  <a:srgbClr val="252529"/>
                </a:solidFill>
                <a:latin typeface="Roboto"/>
                <a:ea typeface="Roboto"/>
                <a:cs typeface="Roboto"/>
                <a:sym typeface="Roboto"/>
              </a:rPr>
              <a:t>With the rapid emergence of decentralized applications and cryptocurrencies, blockchain analysis is crucial to navigate investment opportunities, assess risk factors, and foster regulatory compliance</a:t>
            </a:r>
            <a:br>
              <a:rPr lang="en-GB" sz="1300">
                <a:solidFill>
                  <a:srgbClr val="252529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300">
              <a:solidFill>
                <a:srgbClr val="25252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2529"/>
              </a:buClr>
              <a:buSzPts val="1300"/>
              <a:buFont typeface="Roboto"/>
              <a:buChar char="●"/>
            </a:pPr>
            <a:r>
              <a:rPr lang="en-GB" sz="1300">
                <a:solidFill>
                  <a:srgbClr val="252529"/>
                </a:solidFill>
                <a:latin typeface="Roboto"/>
                <a:ea typeface="Roboto"/>
                <a:cs typeface="Roboto"/>
                <a:sym typeface="Roboto"/>
              </a:rPr>
              <a:t> Tailored for a diverse audience, BlockchainSpace addresses the needs of developers seeking tooling, investors eyeing opportunities, and enthusiasts eager to deepen their understanding of blockchain technologies.</a:t>
            </a:r>
            <a:endParaRPr sz="1300">
              <a:solidFill>
                <a:srgbClr val="25252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9050" y="0"/>
            <a:ext cx="1344950" cy="66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 title="thumbnail_imag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692000" cy="66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mission &amp; vision</a:t>
            </a:r>
            <a:endParaRPr/>
          </a:p>
        </p:txBody>
      </p:sp>
      <p:sp>
        <p:nvSpPr>
          <p:cNvPr id="89" name="Google Shape;89;p16"/>
          <p:cNvSpPr txBox="1"/>
          <p:nvPr/>
        </p:nvSpPr>
        <p:spPr>
          <a:xfrm>
            <a:off x="222300" y="1459100"/>
            <a:ext cx="86481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/>
              <a:t>   </a:t>
            </a:r>
            <a:r>
              <a:rPr b="1" lang="en-GB" sz="1300"/>
              <a:t>Mission Statement: Informed Decision-Making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Founded on the principle of transparency</a:t>
            </a:r>
            <a:br>
              <a:rPr lang="en-GB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Our mission is to equip users with </a:t>
            </a:r>
            <a:r>
              <a:rPr b="1" lang="en-GB" sz="1100"/>
              <a:t>actionable insights</a:t>
            </a:r>
            <a:br>
              <a:rPr b="1" lang="en-GB" sz="1100"/>
            </a:b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Helping users make </a:t>
            </a:r>
            <a:r>
              <a:rPr b="1" lang="en-GB" sz="1100"/>
              <a:t>sound, informed decisions</a:t>
            </a:r>
            <a:r>
              <a:rPr lang="en-GB" sz="1100"/>
              <a:t> in the blockchain ecosystem</a:t>
            </a:r>
            <a:br>
              <a:rPr lang="en-GB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/>
              <a:t> </a:t>
            </a:r>
            <a:r>
              <a:rPr b="1" lang="en-GB" sz="1300"/>
              <a:t> Emphasis on Trust &amp; Blockchain Foundations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Trust is the </a:t>
            </a:r>
            <a:r>
              <a:rPr b="1" lang="en-GB" sz="1100"/>
              <a:t>bedrock of blockchain communities</a:t>
            </a:r>
            <a:br>
              <a:rPr b="1" lang="en-GB" sz="1100"/>
            </a:b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BlockchainSpace fosters a </a:t>
            </a:r>
            <a:r>
              <a:rPr b="1" lang="en-GB" sz="1100"/>
              <a:t>transparent and credible environment</a:t>
            </a:r>
            <a:br>
              <a:rPr b="1" lang="en-GB" sz="1100"/>
            </a:b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We provide essential tools and data to build </a:t>
            </a:r>
            <a:r>
              <a:rPr b="1" lang="en-GB" sz="1100"/>
              <a:t>confidence among participants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25252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9050" y="0"/>
            <a:ext cx="1344950" cy="66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 title="thumbnail_imag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692000" cy="66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mission &amp; vision</a:t>
            </a:r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222300" y="1459100"/>
            <a:ext cx="86481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/>
              <a:t>Vision for the Future of Blockchain Technology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We envision blockchain as a </a:t>
            </a:r>
            <a:r>
              <a:rPr b="1" lang="en-GB" sz="1100"/>
              <a:t>core pillar of digital interaction</a:t>
            </a:r>
            <a:br>
              <a:rPr b="1" lang="en-GB" sz="1100"/>
            </a:b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Empowering </a:t>
            </a:r>
            <a:r>
              <a:rPr b="1" lang="en-GB" sz="1100"/>
              <a:t>trustless transactions</a:t>
            </a:r>
            <a:r>
              <a:rPr lang="en-GB" sz="1100"/>
              <a:t> and </a:t>
            </a:r>
            <a:r>
              <a:rPr b="1" lang="en-GB" sz="1100"/>
              <a:t>user ownership</a:t>
            </a:r>
            <a:br>
              <a:rPr b="1" lang="en-GB" sz="1100"/>
            </a:b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Driving a future where users have </a:t>
            </a:r>
            <a:r>
              <a:rPr b="1" lang="en-GB" sz="1100"/>
              <a:t>control over their digital assets</a:t>
            </a:r>
            <a:br>
              <a:rPr b="1" lang="en-GB" sz="1100"/>
            </a:br>
            <a:endParaRPr b="1" sz="1300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25252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9050" y="0"/>
            <a:ext cx="1344950" cy="66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7" title="thumbnail_imag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692000" cy="66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Functionality with screenshots</a:t>
            </a:r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311725" y="2321575"/>
            <a:ext cx="2571000" cy="15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52529"/>
              </a:buClr>
              <a:buSzPts val="1300"/>
              <a:buChar char="●"/>
            </a:pPr>
            <a:r>
              <a:rPr lang="en-GB">
                <a:solidFill>
                  <a:srgbClr val="252529"/>
                </a:solidFill>
              </a:rPr>
              <a:t>This is the simple version called “Noob”, were people with little knowledge of blockchain can compare </a:t>
            </a:r>
            <a:r>
              <a:rPr lang="en-GB">
                <a:solidFill>
                  <a:srgbClr val="252529"/>
                </a:solidFill>
              </a:rPr>
              <a:t>multiple blockchains.</a:t>
            </a:r>
            <a:endParaRPr>
              <a:solidFill>
                <a:srgbClr val="252529"/>
              </a:solidFill>
            </a:endParaRPr>
          </a:p>
        </p:txBody>
      </p:sp>
      <p:sp>
        <p:nvSpPr>
          <p:cNvPr id="106" name="Google Shape;106;p18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4550" y="1505700"/>
            <a:ext cx="5865774" cy="315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9050" y="0"/>
            <a:ext cx="1344950" cy="66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8" title="thumbnail_imag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692000" cy="66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Functionality with screenshots</a:t>
            </a:r>
            <a:endParaRPr/>
          </a:p>
        </p:txBody>
      </p:sp>
      <p:sp>
        <p:nvSpPr>
          <p:cNvPr id="115" name="Google Shape;115;p19"/>
          <p:cNvSpPr txBox="1"/>
          <p:nvPr>
            <p:ph idx="1" type="body"/>
          </p:nvPr>
        </p:nvSpPr>
        <p:spPr>
          <a:xfrm>
            <a:off x="311725" y="2321575"/>
            <a:ext cx="2571000" cy="13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52529"/>
              </a:buClr>
              <a:buSzPts val="1300"/>
              <a:buChar char="●"/>
            </a:pPr>
            <a:r>
              <a:rPr lang="en-GB">
                <a:solidFill>
                  <a:srgbClr val="252529"/>
                </a:solidFill>
              </a:rPr>
              <a:t>This is more complex version called “Pro”, were people who understand blockchain can compare multiple blockchains.</a:t>
            </a:r>
            <a:endParaRPr>
              <a:solidFill>
                <a:srgbClr val="252529"/>
              </a:solidFill>
            </a:endParaRPr>
          </a:p>
        </p:txBody>
      </p:sp>
      <p:pic>
        <p:nvPicPr>
          <p:cNvPr id="116" name="Google Shape;11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9051" y="1506826"/>
            <a:ext cx="5856901" cy="3237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9050" y="0"/>
            <a:ext cx="1344950" cy="66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9" title="thumbnail_imag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692000" cy="66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Functionality with screenshots</a:t>
            </a:r>
            <a:endParaRPr/>
          </a:p>
        </p:txBody>
      </p:sp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311725" y="2321575"/>
            <a:ext cx="2571000" cy="13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52529"/>
              </a:buClr>
              <a:buSzPts val="1300"/>
              <a:buChar char="●"/>
            </a:pPr>
            <a:r>
              <a:rPr lang="en-GB">
                <a:solidFill>
                  <a:srgbClr val="252529"/>
                </a:solidFill>
              </a:rPr>
              <a:t>Filters has been provided for both “Noob” and “Pro” to align the blockchains on there priority basis</a:t>
            </a:r>
            <a:endParaRPr>
              <a:solidFill>
                <a:srgbClr val="252529"/>
              </a:solidFill>
            </a:endParaRPr>
          </a:p>
        </p:txBody>
      </p:sp>
      <p:pic>
        <p:nvPicPr>
          <p:cNvPr id="125" name="Google Shape;1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4300" y="1359775"/>
            <a:ext cx="1777050" cy="378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3950" y="1387488"/>
            <a:ext cx="1837250" cy="3728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99050" y="0"/>
            <a:ext cx="1344950" cy="66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0" title="thumbnail_imag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0"/>
            <a:ext cx="692000" cy="66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Functionality with screenshots</a:t>
            </a:r>
            <a:endParaRPr/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311725" y="2321575"/>
            <a:ext cx="2571000" cy="13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52529"/>
              </a:buClr>
              <a:buSzPts val="1300"/>
              <a:buChar char="●"/>
            </a:pPr>
            <a:r>
              <a:rPr lang="en-GB">
                <a:solidFill>
                  <a:srgbClr val="252529"/>
                </a:solidFill>
              </a:rPr>
              <a:t>A compare functionality is provided so users can compare min 2 and max 4 blockchains side by side.</a:t>
            </a:r>
            <a:endParaRPr>
              <a:solidFill>
                <a:srgbClr val="252529"/>
              </a:solidFill>
            </a:endParaRPr>
          </a:p>
        </p:txBody>
      </p:sp>
      <p:pic>
        <p:nvPicPr>
          <p:cNvPr id="135" name="Google Shape;1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6500" y="1551325"/>
            <a:ext cx="5810898" cy="3220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9050" y="0"/>
            <a:ext cx="1344950" cy="66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1" title="thumbnail_imag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692000" cy="66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Functionality with screenshots</a:t>
            </a:r>
            <a:endParaRPr/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311725" y="2321575"/>
            <a:ext cx="2571000" cy="13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52529"/>
              </a:buClr>
              <a:buSzPts val="1300"/>
              <a:buChar char="●"/>
            </a:pPr>
            <a:r>
              <a:rPr lang="en-GB">
                <a:solidFill>
                  <a:srgbClr val="252529"/>
                </a:solidFill>
              </a:rPr>
              <a:t>Here you can see how it will look like when comparing 3 blockchains side by side.</a:t>
            </a:r>
            <a:endParaRPr>
              <a:solidFill>
                <a:srgbClr val="252529"/>
              </a:solidFill>
            </a:endParaRPr>
          </a:p>
        </p:txBody>
      </p:sp>
      <p:pic>
        <p:nvPicPr>
          <p:cNvPr id="144" name="Google Shape;14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3850" y="1432600"/>
            <a:ext cx="5689149" cy="355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9050" y="0"/>
            <a:ext cx="1344950" cy="66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2" title="thumbnail_imag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692000" cy="66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Functionality with screenshots</a:t>
            </a:r>
            <a:endParaRPr/>
          </a:p>
        </p:txBody>
      </p:sp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311725" y="2321575"/>
            <a:ext cx="2571000" cy="13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52529"/>
              </a:buClr>
              <a:buSzPts val="1300"/>
              <a:buChar char="●"/>
            </a:pPr>
            <a:r>
              <a:rPr lang="en-GB">
                <a:solidFill>
                  <a:srgbClr val="252529"/>
                </a:solidFill>
              </a:rPr>
              <a:t>Click on any blockchain to get a detailed view about that blockchain.</a:t>
            </a:r>
            <a:endParaRPr>
              <a:solidFill>
                <a:srgbClr val="252529"/>
              </a:solidFill>
            </a:endParaRPr>
          </a:p>
        </p:txBody>
      </p:sp>
      <p:pic>
        <p:nvPicPr>
          <p:cNvPr id="153" name="Google Shape;15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5175" y="1530150"/>
            <a:ext cx="5331323" cy="331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9050" y="0"/>
            <a:ext cx="1344950" cy="66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3" title="thumbnail_imag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692000" cy="66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Functionality with screenshots</a:t>
            </a:r>
            <a:endParaRPr/>
          </a:p>
        </p:txBody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311725" y="2321575"/>
            <a:ext cx="2890200" cy="211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52529"/>
              </a:buClr>
              <a:buSzPts val="1300"/>
              <a:buChar char="●"/>
            </a:pPr>
            <a:r>
              <a:rPr lang="en-GB">
                <a:solidFill>
                  <a:srgbClr val="252529"/>
                </a:solidFill>
              </a:rPr>
              <a:t>An AI chatbot has been integrated into the </a:t>
            </a:r>
            <a:r>
              <a:rPr lang="en-GB">
                <a:solidFill>
                  <a:srgbClr val="252529"/>
                </a:solidFill>
              </a:rPr>
              <a:t>platform so user can ask any questions regarding blockchain.</a:t>
            </a:r>
            <a:r>
              <a:rPr lang="en-GB">
                <a:solidFill>
                  <a:srgbClr val="252529"/>
                </a:solidFill>
              </a:rPr>
              <a:t> </a:t>
            </a:r>
            <a:br>
              <a:rPr lang="en-GB">
                <a:solidFill>
                  <a:srgbClr val="252529"/>
                </a:solidFill>
              </a:rPr>
            </a:br>
            <a:endParaRPr>
              <a:solidFill>
                <a:srgbClr val="252529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52529"/>
              </a:buClr>
              <a:buSzPts val="1300"/>
              <a:buChar char="●"/>
            </a:pPr>
            <a:r>
              <a:rPr lang="en-GB">
                <a:solidFill>
                  <a:srgbClr val="252529"/>
                </a:solidFill>
              </a:rPr>
              <a:t>User can either </a:t>
            </a:r>
            <a:r>
              <a:rPr lang="en-GB">
                <a:solidFill>
                  <a:srgbClr val="252529"/>
                </a:solidFill>
              </a:rPr>
              <a:t>download</a:t>
            </a:r>
            <a:r>
              <a:rPr lang="en-GB">
                <a:solidFill>
                  <a:srgbClr val="252529"/>
                </a:solidFill>
              </a:rPr>
              <a:t> the chat on his machine or delete it. The chat will persist for an hour on machine.</a:t>
            </a:r>
            <a:endParaRPr>
              <a:solidFill>
                <a:srgbClr val="252529"/>
              </a:solidFill>
            </a:endParaRPr>
          </a:p>
        </p:txBody>
      </p:sp>
      <p:pic>
        <p:nvPicPr>
          <p:cNvPr id="162" name="Google Shape;16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5150" y="1405575"/>
            <a:ext cx="2954975" cy="3737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9050" y="0"/>
            <a:ext cx="1344950" cy="66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4" title="thumbnail_imag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692000" cy="66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sources</a:t>
            </a:r>
            <a:endParaRPr/>
          </a:p>
        </p:txBody>
      </p:sp>
      <p:sp>
        <p:nvSpPr>
          <p:cNvPr id="170" name="Google Shape;170;p25"/>
          <p:cNvSpPr txBox="1"/>
          <p:nvPr/>
        </p:nvSpPr>
        <p:spPr>
          <a:xfrm>
            <a:off x="172625" y="1473300"/>
            <a:ext cx="8073600" cy="21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52529"/>
              </a:buClr>
              <a:buSzPts val="1300"/>
              <a:buFont typeface="Roboto"/>
              <a:buChar char="●"/>
            </a:pPr>
            <a:r>
              <a:rPr lang="en-GB" sz="1300">
                <a:solidFill>
                  <a:srgbClr val="252529"/>
                </a:solidFill>
                <a:latin typeface="Roboto"/>
                <a:ea typeface="Roboto"/>
                <a:cs typeface="Roboto"/>
                <a:sym typeface="Roboto"/>
              </a:rPr>
              <a:t>We aggregate data from essential resources like DeFiLlama and CoinGecko, instrumental in providing users with comprehensive market analysis and up-to-date financial information.</a:t>
            </a:r>
            <a:endParaRPr sz="1300">
              <a:solidFill>
                <a:srgbClr val="25252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9050" y="0"/>
            <a:ext cx="1344950" cy="66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5" title="thumbnail_imag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692000" cy="66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